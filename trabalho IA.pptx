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653077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9794121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50235986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9982269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8696799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472790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12414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2856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14258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5957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468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1251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1161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77745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28431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166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4932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02005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6807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0664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36195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32906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12304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65827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95138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44520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2879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A1F4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101267" name="Text 37"/>
          <p:cNvSpPr/>
          <p:nvPr/>
        </p:nvSpPr>
        <p:spPr bwMode="auto">
          <a:xfrm>
            <a:off x="457200" y="7315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6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PopOut</a:t>
            </a:r>
            <a:endParaRPr lang="en-US" sz="6000"/>
          </a:p>
        </p:txBody>
      </p:sp>
      <p:sp>
        <p:nvSpPr>
          <p:cNvPr id="520317891" name="Text 38"/>
          <p:cNvSpPr/>
          <p:nvPr/>
        </p:nvSpPr>
        <p:spPr bwMode="auto">
          <a:xfrm>
            <a:off x="457200" y="17556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200">
                <a:solidFill>
                  <a:srgbClr val="C8D8F8"/>
                </a:solidFill>
                <a:latin typeface="Calibri"/>
                <a:ea typeface="Calibri"/>
                <a:cs typeface="Calibri"/>
              </a:rPr>
              <a:t>Monte Carlo Tree Search</a:t>
            </a:r>
            <a:endParaRPr lang="en-US" sz="2200"/>
          </a:p>
        </p:txBody>
      </p:sp>
      <p:sp>
        <p:nvSpPr>
          <p:cNvPr id="1384138850" name="Text 39"/>
          <p:cNvSpPr/>
          <p:nvPr/>
        </p:nvSpPr>
        <p:spPr bwMode="auto">
          <a:xfrm>
            <a:off x="45720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i="1">
                <a:solidFill>
                  <a:srgbClr val="7A86B0"/>
                </a:solidFill>
                <a:latin typeface="Calibri"/>
                <a:ea typeface="Calibri"/>
                <a:cs typeface="Calibri"/>
              </a:rPr>
              <a:t>Estratégias de Pesquisa Adversarial</a:t>
            </a:r>
            <a:endParaRPr lang="en-US" sz="1400"/>
          </a:p>
        </p:txBody>
      </p:sp>
      <p:sp>
        <p:nvSpPr>
          <p:cNvPr id="2141422944" name="Shape 40"/>
          <p:cNvSpPr/>
          <p:nvPr/>
        </p:nvSpPr>
        <p:spPr bwMode="auto">
          <a:xfrm>
            <a:off x="457200" y="2880360"/>
            <a:ext cx="2286000" cy="27432"/>
          </a:xfrm>
          <a:prstGeom prst="rect">
            <a:avLst/>
          </a:prstGeom>
          <a:solidFill>
            <a:srgbClr val="E8623A"/>
          </a:solidFill>
          <a:ln w="12700">
            <a:solidFill>
              <a:srgbClr val="E8623A"/>
            </a:solidFill>
            <a:prstDash val="solid"/>
          </a:ln>
        </p:spPr>
      </p:sp>
      <p:sp>
        <p:nvSpPr>
          <p:cNvPr id="2082170508" name="Text 41"/>
          <p:cNvSpPr/>
          <p:nvPr/>
        </p:nvSpPr>
        <p:spPr bwMode="auto">
          <a:xfrm>
            <a:off x="457200" y="30632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C8D8F8"/>
                </a:solidFill>
                <a:latin typeface="Calibri"/>
                <a:ea typeface="Calibri"/>
                <a:cs typeface="Calibri"/>
              </a:rPr>
              <a:t>Rafael  ·  Guilherme</a:t>
            </a:r>
            <a:endParaRPr lang="en-US" sz="1500"/>
          </a:p>
        </p:txBody>
      </p:sp>
      <p:sp>
        <p:nvSpPr>
          <p:cNvPr id="2062094288" name="Text 42"/>
          <p:cNvSpPr/>
          <p:nvPr/>
        </p:nvSpPr>
        <p:spPr bwMode="auto">
          <a:xfrm>
            <a:off x="457200" y="34564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7A86B0"/>
                </a:solidFill>
                <a:latin typeface="Calibri"/>
                <a:ea typeface="Calibri"/>
                <a:cs typeface="Calibri"/>
              </a:rPr>
              <a:t>Inteligência Artificial 2025/2026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722964" name="Text 0"/>
          <p:cNvSpPr/>
          <p:nvPr/>
        </p:nvSpPr>
        <p:spPr bwMode="auto"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1F4E"/>
                </a:solidFill>
                <a:latin typeface="Cambria"/>
                <a:ea typeface="Cambria"/>
                <a:cs typeface="Cambria"/>
              </a:rPr>
              <a:t>O Jogo — PopOut</a:t>
            </a:r>
            <a:endParaRPr lang="en-US" sz="2800"/>
          </a:p>
        </p:txBody>
      </p:sp>
      <p:sp>
        <p:nvSpPr>
          <p:cNvPr id="294379252" name="Shape 1"/>
          <p:cNvSpPr/>
          <p:nvPr/>
        </p:nvSpPr>
        <p:spPr bwMode="auto">
          <a:xfrm>
            <a:off x="457200" y="987552"/>
            <a:ext cx="8229600" cy="22860"/>
          </a:xfrm>
          <a:prstGeom prst="rect">
            <a:avLst/>
          </a:prstGeom>
          <a:solidFill>
            <a:srgbClr val="C8D8F8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1075443753" name="Text 2"/>
          <p:cNvSpPr/>
          <p:nvPr/>
        </p:nvSpPr>
        <p:spPr bwMode="auto"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1F4E"/>
                </a:solidFill>
                <a:latin typeface="Calibri"/>
                <a:ea typeface="Calibri"/>
                <a:cs typeface="Calibri"/>
              </a:rPr>
              <a:t>Mecânica base</a:t>
            </a:r>
            <a:endParaRPr lang="en-US" sz="1400"/>
          </a:p>
        </p:txBody>
      </p:sp>
      <p:sp>
        <p:nvSpPr>
          <p:cNvPr id="1039041128" name="Shape 3"/>
          <p:cNvSpPr/>
          <p:nvPr/>
        </p:nvSpPr>
        <p:spPr bwMode="auto">
          <a:xfrm>
            <a:off x="457200" y="1490472"/>
            <a:ext cx="64008" cy="219456"/>
          </a:xfrm>
          <a:prstGeom prst="rect">
            <a:avLst/>
          </a:prstGeom>
          <a:solidFill>
            <a:srgbClr val="E8623A"/>
          </a:solidFill>
          <a:ln w="12700">
            <a:solidFill>
              <a:srgbClr val="E8623A"/>
            </a:solidFill>
            <a:prstDash val="solid"/>
          </a:ln>
        </p:spPr>
      </p:sp>
      <p:sp>
        <p:nvSpPr>
          <p:cNvPr id="1421016408" name="Text 4"/>
          <p:cNvSpPr/>
          <p:nvPr/>
        </p:nvSpPr>
        <p:spPr bwMode="auto">
          <a:xfrm>
            <a:off x="621792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Variante do Connect-4 em tabuleiro 6 × 7</a:t>
            </a:r>
            <a:endParaRPr lang="en-US" sz="1250"/>
          </a:p>
        </p:txBody>
      </p:sp>
      <p:sp>
        <p:nvSpPr>
          <p:cNvPr id="3429173" name="Shape 5"/>
          <p:cNvSpPr/>
          <p:nvPr/>
        </p:nvSpPr>
        <p:spPr bwMode="auto">
          <a:xfrm>
            <a:off x="457200" y="1892808"/>
            <a:ext cx="64008" cy="219456"/>
          </a:xfrm>
          <a:prstGeom prst="rect">
            <a:avLst/>
          </a:prstGeom>
          <a:solidFill>
            <a:srgbClr val="E8623A"/>
          </a:solidFill>
          <a:ln w="12700">
            <a:solidFill>
              <a:srgbClr val="E8623A"/>
            </a:solidFill>
            <a:prstDash val="solid"/>
          </a:ln>
        </p:spPr>
      </p:sp>
      <p:sp>
        <p:nvSpPr>
          <p:cNvPr id="719127337" name="Text 6"/>
          <p:cNvSpPr/>
          <p:nvPr/>
        </p:nvSpPr>
        <p:spPr bwMode="auto">
          <a:xfrm>
            <a:off x="621792" y="18836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DROP — colocar peça pelo topo de qualquer coluna</a:t>
            </a:r>
            <a:endParaRPr lang="en-US" sz="1250"/>
          </a:p>
        </p:txBody>
      </p:sp>
      <p:sp>
        <p:nvSpPr>
          <p:cNvPr id="1167889029" name="Shape 7"/>
          <p:cNvSpPr/>
          <p:nvPr/>
        </p:nvSpPr>
        <p:spPr bwMode="auto">
          <a:xfrm>
            <a:off x="457200" y="2295144"/>
            <a:ext cx="64008" cy="219456"/>
          </a:xfrm>
          <a:prstGeom prst="rect">
            <a:avLst/>
          </a:prstGeom>
          <a:solidFill>
            <a:srgbClr val="E8623A"/>
          </a:solidFill>
          <a:ln w="12700">
            <a:solidFill>
              <a:srgbClr val="E8623A"/>
            </a:solidFill>
            <a:prstDash val="solid"/>
          </a:ln>
        </p:spPr>
      </p:sp>
      <p:sp>
        <p:nvSpPr>
          <p:cNvPr id="752791026" name="Text 8"/>
          <p:cNvSpPr/>
          <p:nvPr/>
        </p:nvSpPr>
        <p:spPr bwMode="auto">
          <a:xfrm>
            <a:off x="621792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POP — remover peça própria da base, peças acima descem</a:t>
            </a:r>
            <a:endParaRPr lang="en-US" sz="1250"/>
          </a:p>
        </p:txBody>
      </p:sp>
      <p:sp>
        <p:nvSpPr>
          <p:cNvPr id="2098570575" name="Shape 9"/>
          <p:cNvSpPr/>
          <p:nvPr/>
        </p:nvSpPr>
        <p:spPr bwMode="auto">
          <a:xfrm>
            <a:off x="457200" y="2697480"/>
            <a:ext cx="64008" cy="219456"/>
          </a:xfrm>
          <a:prstGeom prst="rect">
            <a:avLst/>
          </a:prstGeom>
          <a:solidFill>
            <a:srgbClr val="E8623A"/>
          </a:solidFill>
          <a:ln w="12700">
            <a:solidFill>
              <a:srgbClr val="E8623A"/>
            </a:solidFill>
            <a:prstDash val="solid"/>
          </a:ln>
        </p:spPr>
      </p:sp>
      <p:sp>
        <p:nvSpPr>
          <p:cNvPr id="1455131075" name="Text 10"/>
          <p:cNvSpPr/>
          <p:nvPr/>
        </p:nvSpPr>
        <p:spPr bwMode="auto">
          <a:xfrm>
            <a:off x="621792" y="26883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Objectivo: alinhar 4 peças horizontal, vertical ou diagonal</a:t>
            </a:r>
            <a:endParaRPr lang="en-US" sz="1250"/>
          </a:p>
        </p:txBody>
      </p:sp>
      <p:sp>
        <p:nvSpPr>
          <p:cNvPr id="918767313" name="Text 11"/>
          <p:cNvSpPr/>
          <p:nvPr/>
        </p:nvSpPr>
        <p:spPr bwMode="auto">
          <a:xfrm>
            <a:off x="457200" y="31821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A1F4E"/>
                </a:solidFill>
                <a:latin typeface="Calibri"/>
                <a:ea typeface="Calibri"/>
                <a:cs typeface="Calibri"/>
              </a:rPr>
              <a:t>Regras especiais</a:t>
            </a:r>
            <a:endParaRPr lang="en-US" sz="1400"/>
          </a:p>
        </p:txBody>
      </p:sp>
      <p:sp>
        <p:nvSpPr>
          <p:cNvPr id="512633131" name="Shape 12"/>
          <p:cNvSpPr/>
          <p:nvPr/>
        </p:nvSpPr>
        <p:spPr bwMode="auto">
          <a:xfrm>
            <a:off x="457200" y="3566160"/>
            <a:ext cx="3931920" cy="365760"/>
          </a:xfrm>
          <a:prstGeom prst="rect">
            <a:avLst/>
          </a:prstGeom>
          <a:solidFill>
            <a:srgbClr val="F4F6FB"/>
          </a:solidFill>
          <a:ln w="9525">
            <a:solidFill>
              <a:srgbClr val="C8D8F8"/>
            </a:solidFill>
            <a:prstDash val="solid"/>
          </a:ln>
        </p:spPr>
      </p:sp>
      <p:sp>
        <p:nvSpPr>
          <p:cNvPr id="217220328" name="Shape 13"/>
          <p:cNvSpPr/>
          <p:nvPr/>
        </p:nvSpPr>
        <p:spPr bwMode="auto">
          <a:xfrm>
            <a:off x="457200" y="3566160"/>
            <a:ext cx="502920" cy="365760"/>
          </a:xfrm>
          <a:prstGeom prst="rect">
            <a:avLst/>
          </a:prstGeom>
          <a:solidFill>
            <a:srgbClr val="E8623A"/>
          </a:solidFill>
          <a:ln w="12700">
            <a:solidFill>
              <a:srgbClr val="E8623A"/>
            </a:solidFill>
            <a:prstDash val="solid"/>
          </a:ln>
        </p:spPr>
      </p:sp>
      <p:sp>
        <p:nvSpPr>
          <p:cNvPr id="1810919091" name="Text 14"/>
          <p:cNvSpPr/>
          <p:nvPr/>
        </p:nvSpPr>
        <p:spPr bwMode="auto">
          <a:xfrm>
            <a:off x="457200" y="35661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R1</a:t>
            </a:r>
            <a:endParaRPr lang="en-US" sz="1100"/>
          </a:p>
        </p:txBody>
      </p:sp>
      <p:sp>
        <p:nvSpPr>
          <p:cNvPr id="931481800" name="Text 15"/>
          <p:cNvSpPr/>
          <p:nvPr/>
        </p:nvSpPr>
        <p:spPr bwMode="auto">
          <a:xfrm>
            <a:off x="1024128" y="3584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Pop simultâneo — quem faz o pop ganha</a:t>
            </a:r>
            <a:endParaRPr lang="en-US" sz="1200"/>
          </a:p>
        </p:txBody>
      </p:sp>
      <p:sp>
        <p:nvSpPr>
          <p:cNvPr id="23572358" name="Shape 16"/>
          <p:cNvSpPr/>
          <p:nvPr/>
        </p:nvSpPr>
        <p:spPr bwMode="auto">
          <a:xfrm>
            <a:off x="457200" y="4023360"/>
            <a:ext cx="3931920" cy="365760"/>
          </a:xfrm>
          <a:prstGeom prst="rect">
            <a:avLst/>
          </a:prstGeom>
          <a:solidFill>
            <a:srgbClr val="F4F6FB"/>
          </a:solidFill>
          <a:ln w="9525">
            <a:solidFill>
              <a:srgbClr val="C8D8F8"/>
            </a:solidFill>
            <a:prstDash val="solid"/>
          </a:ln>
        </p:spPr>
      </p:sp>
      <p:sp>
        <p:nvSpPr>
          <p:cNvPr id="787750902" name="Shape 17"/>
          <p:cNvSpPr/>
          <p:nvPr/>
        </p:nvSpPr>
        <p:spPr bwMode="auto">
          <a:xfrm>
            <a:off x="457200" y="4023360"/>
            <a:ext cx="502920" cy="365760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1941579225" name="Text 18"/>
          <p:cNvSpPr/>
          <p:nvPr/>
        </p:nvSpPr>
        <p:spPr bwMode="auto">
          <a:xfrm>
            <a:off x="457200" y="4023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R2</a:t>
            </a:r>
            <a:endParaRPr lang="en-US" sz="1100"/>
          </a:p>
        </p:txBody>
      </p:sp>
      <p:sp>
        <p:nvSpPr>
          <p:cNvPr id="266828650" name="Text 19"/>
          <p:cNvSpPr/>
          <p:nvPr/>
        </p:nvSpPr>
        <p:spPr bwMode="auto">
          <a:xfrm>
            <a:off x="1024128" y="4041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Tabuleiro cheio — pop ou declarar empate</a:t>
            </a:r>
            <a:endParaRPr lang="en-US" sz="1200"/>
          </a:p>
        </p:txBody>
      </p:sp>
      <p:sp>
        <p:nvSpPr>
          <p:cNvPr id="615304661" name="Shape 20"/>
          <p:cNvSpPr/>
          <p:nvPr/>
        </p:nvSpPr>
        <p:spPr bwMode="auto">
          <a:xfrm>
            <a:off x="457200" y="4480560"/>
            <a:ext cx="3931920" cy="365760"/>
          </a:xfrm>
          <a:prstGeom prst="rect">
            <a:avLst/>
          </a:prstGeom>
          <a:solidFill>
            <a:srgbClr val="F4F6FB"/>
          </a:solidFill>
          <a:ln w="9525">
            <a:solidFill>
              <a:srgbClr val="C8D8F8"/>
            </a:solidFill>
            <a:prstDash val="solid"/>
          </a:ln>
        </p:spPr>
      </p:sp>
      <p:sp>
        <p:nvSpPr>
          <p:cNvPr id="4157834" name="Shape 21"/>
          <p:cNvSpPr/>
          <p:nvPr/>
        </p:nvSpPr>
        <p:spPr bwMode="auto">
          <a:xfrm>
            <a:off x="457200" y="4480560"/>
            <a:ext cx="502920" cy="36576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003732352" name="Text 22"/>
          <p:cNvSpPr/>
          <p:nvPr/>
        </p:nvSpPr>
        <p:spPr bwMode="auto">
          <a:xfrm>
            <a:off x="457200" y="4480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R3</a:t>
            </a:r>
            <a:endParaRPr lang="en-US" sz="1100"/>
          </a:p>
        </p:txBody>
      </p:sp>
      <p:sp>
        <p:nvSpPr>
          <p:cNvPr id="1746888157" name="Text 23"/>
          <p:cNvSpPr/>
          <p:nvPr/>
        </p:nvSpPr>
        <p:spPr bwMode="auto">
          <a:xfrm>
            <a:off x="1024128" y="44988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Estado repetido 3× — empate declarável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492415" name="Text 0"/>
          <p:cNvSpPr/>
          <p:nvPr/>
        </p:nvSpPr>
        <p:spPr bwMode="auto"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1F4E"/>
                </a:solidFill>
                <a:latin typeface="Cambria"/>
                <a:ea typeface="Cambria"/>
                <a:cs typeface="Cambria"/>
              </a:rPr>
              <a:t>MCTS — As 4 Fases</a:t>
            </a:r>
            <a:endParaRPr lang="en-US" sz="2800"/>
          </a:p>
        </p:txBody>
      </p:sp>
      <p:sp>
        <p:nvSpPr>
          <p:cNvPr id="1741177680" name="Shape 1"/>
          <p:cNvSpPr/>
          <p:nvPr/>
        </p:nvSpPr>
        <p:spPr bwMode="auto">
          <a:xfrm>
            <a:off x="457200" y="987552"/>
            <a:ext cx="8229600" cy="22860"/>
          </a:xfrm>
          <a:prstGeom prst="rect">
            <a:avLst/>
          </a:prstGeom>
          <a:solidFill>
            <a:srgbClr val="C8D8F8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271221225" name="Shape 2"/>
          <p:cNvSpPr/>
          <p:nvPr/>
        </p:nvSpPr>
        <p:spPr bwMode="auto">
          <a:xfrm>
            <a:off x="347472" y="1097280"/>
            <a:ext cx="2011680" cy="3566160"/>
          </a:xfrm>
          <a:prstGeom prst="rect">
            <a:avLst/>
          </a:prstGeom>
          <a:solidFill>
            <a:srgbClr val="F4F6FB"/>
          </a:solidFill>
          <a:ln w="9525">
            <a:solidFill>
              <a:srgbClr val="C8D8F8"/>
            </a:solidFill>
            <a:prstDash val="solid"/>
          </a:ln>
        </p:spPr>
      </p:sp>
      <p:sp>
        <p:nvSpPr>
          <p:cNvPr id="727508425" name="Shape 3"/>
          <p:cNvSpPr/>
          <p:nvPr/>
        </p:nvSpPr>
        <p:spPr bwMode="auto">
          <a:xfrm>
            <a:off x="347472" y="1097280"/>
            <a:ext cx="2011680" cy="475488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781757788" name="Text 4"/>
          <p:cNvSpPr/>
          <p:nvPr/>
        </p:nvSpPr>
        <p:spPr bwMode="auto">
          <a:xfrm>
            <a:off x="438912" y="1097280"/>
            <a:ext cx="182880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Selecção</a:t>
            </a:r>
            <a:endParaRPr lang="en-US" sz="1400"/>
          </a:p>
        </p:txBody>
      </p:sp>
      <p:sp>
        <p:nvSpPr>
          <p:cNvPr id="103192976" name="Text 5"/>
          <p:cNvSpPr/>
          <p:nvPr/>
        </p:nvSpPr>
        <p:spPr bwMode="auto">
          <a:xfrm>
            <a:off x="438912" y="1627632"/>
            <a:ext cx="1828800" cy="2926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Desce a árvore usando a política (UCT ou ε-greedy) até encontrar um nó não totalmente expandido</a:t>
            </a:r>
            <a:endParaRPr lang="en-US" sz="1150"/>
          </a:p>
        </p:txBody>
      </p:sp>
      <p:sp>
        <p:nvSpPr>
          <p:cNvPr id="1704121563" name="Shape 6"/>
          <p:cNvSpPr/>
          <p:nvPr/>
        </p:nvSpPr>
        <p:spPr bwMode="auto">
          <a:xfrm>
            <a:off x="2359152" y="2651760"/>
            <a:ext cx="137160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A86B0"/>
          </a:solidFill>
          <a:ln w="12700">
            <a:solidFill>
              <a:srgbClr val="7A86B0"/>
            </a:solidFill>
            <a:prstDash val="solid"/>
          </a:ln>
        </p:spPr>
      </p:sp>
      <p:sp>
        <p:nvSpPr>
          <p:cNvPr id="229834099" name="Shape 7"/>
          <p:cNvSpPr/>
          <p:nvPr/>
        </p:nvSpPr>
        <p:spPr bwMode="auto">
          <a:xfrm>
            <a:off x="2496312" y="1097280"/>
            <a:ext cx="2011680" cy="3566160"/>
          </a:xfrm>
          <a:prstGeom prst="rect">
            <a:avLst/>
          </a:prstGeom>
          <a:solidFill>
            <a:srgbClr val="F4F6FB"/>
          </a:solidFill>
          <a:ln w="9525">
            <a:solidFill>
              <a:srgbClr val="C8D8F8"/>
            </a:solidFill>
            <a:prstDash val="solid"/>
          </a:ln>
        </p:spPr>
      </p:sp>
      <p:sp>
        <p:nvSpPr>
          <p:cNvPr id="320614549" name="Shape 8"/>
          <p:cNvSpPr/>
          <p:nvPr/>
        </p:nvSpPr>
        <p:spPr bwMode="auto">
          <a:xfrm>
            <a:off x="2496312" y="1097280"/>
            <a:ext cx="2011680" cy="475488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1048747366" name="Text 9"/>
          <p:cNvSpPr/>
          <p:nvPr/>
        </p:nvSpPr>
        <p:spPr bwMode="auto">
          <a:xfrm>
            <a:off x="2587752" y="1097280"/>
            <a:ext cx="182880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Expansão</a:t>
            </a:r>
            <a:endParaRPr lang="en-US" sz="1400"/>
          </a:p>
        </p:txBody>
      </p:sp>
      <p:sp>
        <p:nvSpPr>
          <p:cNvPr id="483517363" name="Text 10"/>
          <p:cNvSpPr/>
          <p:nvPr/>
        </p:nvSpPr>
        <p:spPr bwMode="auto">
          <a:xfrm>
            <a:off x="2587752" y="1627632"/>
            <a:ext cx="1828800" cy="2926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Adiciona um filho novo ao nó. A ordem é determinada pela heurística (vitórias → bloqueios → drops → pops)</a:t>
            </a:r>
            <a:endParaRPr lang="en-US" sz="1150"/>
          </a:p>
        </p:txBody>
      </p:sp>
      <p:sp>
        <p:nvSpPr>
          <p:cNvPr id="1220547916" name="Shape 11"/>
          <p:cNvSpPr/>
          <p:nvPr/>
        </p:nvSpPr>
        <p:spPr bwMode="auto">
          <a:xfrm>
            <a:off x="4507992" y="2651760"/>
            <a:ext cx="137160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A86B0"/>
          </a:solidFill>
          <a:ln w="12700">
            <a:solidFill>
              <a:srgbClr val="7A86B0"/>
            </a:solidFill>
            <a:prstDash val="solid"/>
          </a:ln>
        </p:spPr>
      </p:sp>
      <p:sp>
        <p:nvSpPr>
          <p:cNvPr id="909964156" name="Shape 12"/>
          <p:cNvSpPr/>
          <p:nvPr/>
        </p:nvSpPr>
        <p:spPr bwMode="auto">
          <a:xfrm>
            <a:off x="4645152" y="1097280"/>
            <a:ext cx="2011680" cy="3566160"/>
          </a:xfrm>
          <a:prstGeom prst="rect">
            <a:avLst/>
          </a:prstGeom>
          <a:solidFill>
            <a:srgbClr val="F4F6FB"/>
          </a:solidFill>
          <a:ln w="9525">
            <a:solidFill>
              <a:srgbClr val="C8D8F8"/>
            </a:solidFill>
            <a:prstDash val="solid"/>
          </a:ln>
        </p:spPr>
      </p:sp>
      <p:sp>
        <p:nvSpPr>
          <p:cNvPr id="1682127622" name="Shape 13"/>
          <p:cNvSpPr/>
          <p:nvPr/>
        </p:nvSpPr>
        <p:spPr bwMode="auto">
          <a:xfrm>
            <a:off x="4645152" y="1097280"/>
            <a:ext cx="2011680" cy="475488"/>
          </a:xfrm>
          <a:prstGeom prst="rect">
            <a:avLst/>
          </a:prstGeom>
          <a:solidFill>
            <a:srgbClr val="E8623A"/>
          </a:solidFill>
          <a:ln w="12700">
            <a:solidFill>
              <a:srgbClr val="E8623A"/>
            </a:solidFill>
            <a:prstDash val="solid"/>
          </a:ln>
        </p:spPr>
      </p:sp>
      <p:sp>
        <p:nvSpPr>
          <p:cNvPr id="1649488655" name="Text 14"/>
          <p:cNvSpPr/>
          <p:nvPr/>
        </p:nvSpPr>
        <p:spPr bwMode="auto">
          <a:xfrm>
            <a:off x="4736592" y="1097280"/>
            <a:ext cx="182880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Simulação</a:t>
            </a:r>
            <a:endParaRPr lang="en-US" sz="1400"/>
          </a:p>
        </p:txBody>
      </p:sp>
      <p:sp>
        <p:nvSpPr>
          <p:cNvPr id="1569278290" name="Text 15"/>
          <p:cNvSpPr/>
          <p:nvPr/>
        </p:nvSpPr>
        <p:spPr bwMode="auto">
          <a:xfrm>
            <a:off x="4736592" y="1627632"/>
            <a:ext cx="1828800" cy="2926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Rollout heurístico até ao fim: prioriza vitórias imediatas, bloqueios, depois top-3 por score + ruído</a:t>
            </a:r>
            <a:endParaRPr lang="en-US" sz="1150"/>
          </a:p>
        </p:txBody>
      </p:sp>
      <p:sp>
        <p:nvSpPr>
          <p:cNvPr id="1177962762" name="Shape 16"/>
          <p:cNvSpPr/>
          <p:nvPr/>
        </p:nvSpPr>
        <p:spPr bwMode="auto">
          <a:xfrm>
            <a:off x="6656832" y="2651760"/>
            <a:ext cx="137160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A86B0"/>
          </a:solidFill>
          <a:ln w="12700">
            <a:solidFill>
              <a:srgbClr val="7A86B0"/>
            </a:solidFill>
            <a:prstDash val="solid"/>
          </a:ln>
        </p:spPr>
      </p:sp>
      <p:sp>
        <p:nvSpPr>
          <p:cNvPr id="636267269" name="Shape 17"/>
          <p:cNvSpPr/>
          <p:nvPr/>
        </p:nvSpPr>
        <p:spPr bwMode="auto">
          <a:xfrm>
            <a:off x="6793992" y="1097280"/>
            <a:ext cx="2011680" cy="3566160"/>
          </a:xfrm>
          <a:prstGeom prst="rect">
            <a:avLst/>
          </a:prstGeom>
          <a:solidFill>
            <a:srgbClr val="F4F6FB"/>
          </a:solidFill>
          <a:ln w="9525">
            <a:solidFill>
              <a:srgbClr val="C8D8F8"/>
            </a:solidFill>
            <a:prstDash val="solid"/>
          </a:ln>
        </p:spPr>
      </p:sp>
      <p:sp>
        <p:nvSpPr>
          <p:cNvPr id="933271096" name="Shape 18"/>
          <p:cNvSpPr/>
          <p:nvPr/>
        </p:nvSpPr>
        <p:spPr bwMode="auto">
          <a:xfrm>
            <a:off x="6793992" y="1097280"/>
            <a:ext cx="2011680" cy="475488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631956436" name="Text 19"/>
          <p:cNvSpPr/>
          <p:nvPr/>
        </p:nvSpPr>
        <p:spPr bwMode="auto">
          <a:xfrm>
            <a:off x="6885432" y="1097280"/>
            <a:ext cx="182880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Backprop.</a:t>
            </a:r>
            <a:endParaRPr lang="en-US" sz="1400"/>
          </a:p>
        </p:txBody>
      </p:sp>
      <p:sp>
        <p:nvSpPr>
          <p:cNvPr id="2074101253" name="Text 20"/>
          <p:cNvSpPr/>
          <p:nvPr/>
        </p:nvSpPr>
        <p:spPr bwMode="auto">
          <a:xfrm>
            <a:off x="6885432" y="1627632"/>
            <a:ext cx="1828800" cy="2926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Actualiza wins/visits em todos os ancestrais.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Condição: winner ≠ node.player</a:t>
            </a:r>
            <a:endParaRPr lang="en-US" sz="1150"/>
          </a:p>
        </p:txBody>
      </p:sp>
      <p:sp>
        <p:nvSpPr>
          <p:cNvPr id="802612428" name="Shape 21"/>
          <p:cNvSpPr/>
          <p:nvPr/>
        </p:nvSpPr>
        <p:spPr bwMode="auto">
          <a:xfrm>
            <a:off x="347472" y="4681728"/>
            <a:ext cx="8449056" cy="320040"/>
          </a:xfrm>
          <a:prstGeom prst="rect">
            <a:avLst/>
          </a:prstGeom>
          <a:solidFill>
            <a:srgbClr val="EEF2FB"/>
          </a:solidFill>
          <a:ln w="9525">
            <a:solidFill>
              <a:srgbClr val="C8D8F8"/>
            </a:solidFill>
            <a:prstDash val="solid"/>
          </a:ln>
        </p:spPr>
      </p:sp>
      <p:sp>
        <p:nvSpPr>
          <p:cNvPr id="637987345" name="Text 22"/>
          <p:cNvSpPr/>
          <p:nvPr/>
        </p:nvSpPr>
        <p:spPr bwMode="auto">
          <a:xfrm>
            <a:off x="502920" y="47091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1A1F4E"/>
                </a:solidFill>
                <a:latin typeface="Calibri"/>
                <a:ea typeface="Calibri"/>
                <a:cs typeface="Calibri"/>
              </a:rPr>
              <a:t>Decisão final: filho com mais VISITAS (não mais wins) 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894119" name="Text 0"/>
          <p:cNvSpPr/>
          <p:nvPr/>
        </p:nvSpPr>
        <p:spPr bwMode="auto"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1F4E"/>
                </a:solidFill>
                <a:latin typeface="Cambria"/>
                <a:ea typeface="Cambria"/>
                <a:cs typeface="Cambria"/>
              </a:rPr>
              <a:t>Algoritmo MCTS com UCT</a:t>
            </a:r>
            <a:endParaRPr lang="en-US" sz="2800"/>
          </a:p>
        </p:txBody>
      </p:sp>
      <p:sp>
        <p:nvSpPr>
          <p:cNvPr id="1945611013" name="Shape 1"/>
          <p:cNvSpPr/>
          <p:nvPr/>
        </p:nvSpPr>
        <p:spPr bwMode="auto">
          <a:xfrm>
            <a:off x="457200" y="987552"/>
            <a:ext cx="8229600" cy="22860"/>
          </a:xfrm>
          <a:prstGeom prst="rect">
            <a:avLst/>
          </a:prstGeom>
          <a:solidFill>
            <a:srgbClr val="C8D8F8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1752789342" name="Shape 2"/>
          <p:cNvSpPr/>
          <p:nvPr/>
        </p:nvSpPr>
        <p:spPr bwMode="auto">
          <a:xfrm>
            <a:off x="457200" y="1097280"/>
            <a:ext cx="4572000" cy="1188720"/>
          </a:xfrm>
          <a:prstGeom prst="rect">
            <a:avLst/>
          </a:prstGeom>
          <a:solidFill>
            <a:srgbClr val="F4F6FB"/>
          </a:solidFill>
          <a:ln w="9525">
            <a:solidFill>
              <a:srgbClr val="C8D8F8"/>
            </a:solidFill>
            <a:prstDash val="solid"/>
          </a:ln>
        </p:spPr>
      </p:sp>
      <p:sp>
        <p:nvSpPr>
          <p:cNvPr id="1691491176" name="Text 3"/>
          <p:cNvSpPr/>
          <p:nvPr/>
        </p:nvSpPr>
        <p:spPr bwMode="auto">
          <a:xfrm>
            <a:off x="640080" y="1170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1F4E"/>
                </a:solidFill>
                <a:latin typeface="Calibri"/>
                <a:ea typeface="Calibri"/>
                <a:cs typeface="Calibri"/>
              </a:rPr>
              <a:t>Fórmula UCT</a:t>
            </a:r>
            <a:endParaRPr lang="en-US" sz="1200"/>
          </a:p>
        </p:txBody>
      </p:sp>
      <p:sp>
        <p:nvSpPr>
          <p:cNvPr id="825520117" name="Text 4"/>
          <p:cNvSpPr/>
          <p:nvPr/>
        </p:nvSpPr>
        <p:spPr bwMode="auto">
          <a:xfrm>
            <a:off x="640080" y="144475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UCT(n) = w/v + c · √(ln V / v)</a:t>
            </a:r>
            <a:endParaRPr lang="en-US" sz="1350"/>
          </a:p>
        </p:txBody>
      </p:sp>
      <p:sp>
        <p:nvSpPr>
          <p:cNvPr id="485456421" name="Text 5"/>
          <p:cNvSpPr/>
          <p:nvPr/>
        </p:nvSpPr>
        <p:spPr bwMode="auto">
          <a:xfrm>
            <a:off x="640080" y="18928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7A86B0"/>
                </a:solidFill>
                <a:latin typeface="Calibri"/>
                <a:ea typeface="Calibri"/>
                <a:cs typeface="Calibri"/>
              </a:rPr>
              <a:t>w/v = taxa vitórias (explotação)   c·√(ln V/v) = exploração</a:t>
            </a:r>
            <a:endParaRPr lang="en-US" sz="1000"/>
          </a:p>
        </p:txBody>
      </p:sp>
      <p:sp>
        <p:nvSpPr>
          <p:cNvPr id="431897546" name="Shape 6"/>
          <p:cNvSpPr/>
          <p:nvPr/>
        </p:nvSpPr>
        <p:spPr bwMode="auto">
          <a:xfrm>
            <a:off x="457200" y="2395728"/>
            <a:ext cx="4572000" cy="960120"/>
          </a:xfrm>
          <a:prstGeom prst="rect">
            <a:avLst/>
          </a:prstGeom>
          <a:solidFill>
            <a:srgbClr val="F4F6FB"/>
          </a:solidFill>
          <a:ln w="9525">
            <a:solidFill>
              <a:srgbClr val="C8D8F8"/>
            </a:solidFill>
            <a:prstDash val="solid"/>
          </a:ln>
        </p:spPr>
      </p:sp>
      <p:sp>
        <p:nvSpPr>
          <p:cNvPr id="929836360" name="Text 7"/>
          <p:cNvSpPr/>
          <p:nvPr/>
        </p:nvSpPr>
        <p:spPr bwMode="auto">
          <a:xfrm>
            <a:off x="640080" y="24688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1F4E"/>
                </a:solidFill>
                <a:latin typeface="Calibri"/>
                <a:ea typeface="Calibri"/>
                <a:cs typeface="Calibri"/>
              </a:rPr>
              <a:t>Efeito do parâmetro  c</a:t>
            </a:r>
            <a:endParaRPr lang="en-US" sz="1200"/>
          </a:p>
        </p:txBody>
      </p:sp>
      <p:sp>
        <p:nvSpPr>
          <p:cNvPr id="753209690" name="Text 8"/>
          <p:cNvSpPr/>
          <p:nvPr/>
        </p:nvSpPr>
        <p:spPr bwMode="auto">
          <a:xfrm>
            <a:off x="640080" y="27889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c = 1.4 (√2)</a:t>
            </a:r>
            <a:endParaRPr lang="en-US" sz="1100"/>
          </a:p>
        </p:txBody>
      </p:sp>
      <p:sp>
        <p:nvSpPr>
          <p:cNvPr id="2038407675" name="Text 9"/>
          <p:cNvSpPr/>
          <p:nvPr/>
        </p:nvSpPr>
        <p:spPr bwMode="auto">
          <a:xfrm>
            <a:off x="1920240" y="27889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7A86B0"/>
                </a:solidFill>
                <a:latin typeface="Calibri"/>
                <a:ea typeface="Calibri"/>
                <a:cs typeface="Calibri"/>
              </a:rPr>
              <a:t>— padrão — equilíbrio exploração/explotação</a:t>
            </a:r>
            <a:endParaRPr lang="en-US" sz="1100"/>
          </a:p>
        </p:txBody>
      </p:sp>
      <p:sp>
        <p:nvSpPr>
          <p:cNvPr id="956056950" name="Text 10"/>
          <p:cNvSpPr/>
          <p:nvPr/>
        </p:nvSpPr>
        <p:spPr bwMode="auto">
          <a:xfrm>
            <a:off x="640080" y="29626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c alto</a:t>
            </a:r>
            <a:endParaRPr lang="en-US" sz="1100"/>
          </a:p>
        </p:txBody>
      </p:sp>
      <p:sp>
        <p:nvSpPr>
          <p:cNvPr id="1722585025" name="Text 11"/>
          <p:cNvSpPr/>
          <p:nvPr/>
        </p:nvSpPr>
        <p:spPr bwMode="auto">
          <a:xfrm>
            <a:off x="1920240" y="29626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7A86B0"/>
                </a:solidFill>
                <a:latin typeface="Calibri"/>
                <a:ea typeface="Calibri"/>
                <a:cs typeface="Calibri"/>
              </a:rPr>
              <a:t>— explora mais ramos novos</a:t>
            </a:r>
            <a:endParaRPr lang="en-US" sz="1100"/>
          </a:p>
        </p:txBody>
      </p:sp>
      <p:sp>
        <p:nvSpPr>
          <p:cNvPr id="2092105086" name="Text 12"/>
          <p:cNvSpPr/>
          <p:nvPr/>
        </p:nvSpPr>
        <p:spPr bwMode="auto">
          <a:xfrm>
            <a:off x="640080" y="31363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c baixo</a:t>
            </a:r>
            <a:endParaRPr lang="en-US" sz="1100"/>
          </a:p>
        </p:txBody>
      </p:sp>
      <p:sp>
        <p:nvSpPr>
          <p:cNvPr id="278454833" name="Text 13"/>
          <p:cNvSpPr/>
          <p:nvPr/>
        </p:nvSpPr>
        <p:spPr bwMode="auto">
          <a:xfrm>
            <a:off x="1920240" y="31363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7A86B0"/>
                </a:solidFill>
                <a:latin typeface="Calibri"/>
                <a:ea typeface="Calibri"/>
                <a:cs typeface="Calibri"/>
              </a:rPr>
              <a:t>— aprofunda os ramos mais promissores</a:t>
            </a:r>
            <a:endParaRPr lang="en-US" sz="1100"/>
          </a:p>
        </p:txBody>
      </p:sp>
      <p:sp>
        <p:nvSpPr>
          <p:cNvPr id="1712792192" name="Shape 14"/>
          <p:cNvSpPr/>
          <p:nvPr/>
        </p:nvSpPr>
        <p:spPr bwMode="auto">
          <a:xfrm>
            <a:off x="457200" y="3456432"/>
            <a:ext cx="4572000" cy="1508759"/>
          </a:xfrm>
          <a:prstGeom prst="rect">
            <a:avLst/>
          </a:prstGeom>
          <a:solidFill>
            <a:srgbClr val="F4F6FB"/>
          </a:solidFill>
          <a:ln w="9525">
            <a:solidFill>
              <a:srgbClr val="C8D8F8"/>
            </a:solidFill>
            <a:prstDash val="solid"/>
          </a:ln>
        </p:spPr>
      </p:sp>
      <p:sp>
        <p:nvSpPr>
          <p:cNvPr id="65658464" name="Text 15"/>
          <p:cNvSpPr/>
          <p:nvPr/>
        </p:nvSpPr>
        <p:spPr bwMode="auto">
          <a:xfrm>
            <a:off x="640080" y="35295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1F4E"/>
                </a:solidFill>
                <a:latin typeface="Calibri"/>
                <a:ea typeface="Calibri"/>
                <a:cs typeface="Calibri"/>
              </a:rPr>
              <a:t>Rollout heurístico</a:t>
            </a:r>
            <a:endParaRPr lang="en-US" sz="1200"/>
          </a:p>
        </p:txBody>
      </p:sp>
      <p:sp>
        <p:nvSpPr>
          <p:cNvPr id="606238368" name="Text 16"/>
          <p:cNvSpPr/>
          <p:nvPr/>
        </p:nvSpPr>
        <p:spPr bwMode="auto">
          <a:xfrm>
            <a:off x="640080" y="3858768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1.  Jogar vitória imediata se existir</a:t>
            </a:r>
            <a:endParaRPr lang="en-US" sz="1100"/>
          </a:p>
        </p:txBody>
      </p:sp>
      <p:sp>
        <p:nvSpPr>
          <p:cNvPr id="1601450078" name="Text 17"/>
          <p:cNvSpPr/>
          <p:nvPr/>
        </p:nvSpPr>
        <p:spPr bwMode="auto">
          <a:xfrm>
            <a:off x="640080" y="4123944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2.  Bloquear vitória imediata do adversário</a:t>
            </a:r>
            <a:endParaRPr lang="en-US" sz="1100"/>
          </a:p>
        </p:txBody>
      </p:sp>
      <p:sp>
        <p:nvSpPr>
          <p:cNvPr id="681760601" name="Text 18"/>
          <p:cNvSpPr/>
          <p:nvPr/>
        </p:nvSpPr>
        <p:spPr bwMode="auto">
          <a:xfrm>
            <a:off x="640080" y="4389120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3.  Top-3 candidatos por score heurístico + ruído aleatório</a:t>
            </a:r>
            <a:endParaRPr lang="en-US" sz="1100"/>
          </a:p>
        </p:txBody>
      </p:sp>
      <p:sp>
        <p:nvSpPr>
          <p:cNvPr id="1451118781" name="Text 19"/>
          <p:cNvSpPr/>
          <p:nvPr/>
        </p:nvSpPr>
        <p:spPr bwMode="auto">
          <a:xfrm>
            <a:off x="640080" y="4654296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4.  Pops prejudiciais filtrados (is_bad_pop)</a:t>
            </a:r>
            <a:endParaRPr lang="en-US" sz="1100"/>
          </a:p>
        </p:txBody>
      </p:sp>
      <p:sp>
        <p:nvSpPr>
          <p:cNvPr id="563815406" name="Shape 20"/>
          <p:cNvSpPr/>
          <p:nvPr/>
        </p:nvSpPr>
        <p:spPr bwMode="auto">
          <a:xfrm>
            <a:off x="5257800" y="1097280"/>
            <a:ext cx="3429000" cy="3867911"/>
          </a:xfrm>
          <a:prstGeom prst="rect">
            <a:avLst/>
          </a:prstGeom>
          <a:solidFill>
            <a:srgbClr val="F4F6FB"/>
          </a:solidFill>
          <a:ln w="9525">
            <a:solidFill>
              <a:srgbClr val="C8D8F8"/>
            </a:solidFill>
            <a:prstDash val="solid"/>
          </a:ln>
        </p:spPr>
      </p:sp>
      <p:sp>
        <p:nvSpPr>
          <p:cNvPr id="188136990" name="Text 21"/>
          <p:cNvSpPr/>
          <p:nvPr/>
        </p:nvSpPr>
        <p:spPr bwMode="auto">
          <a:xfrm>
            <a:off x="5413248" y="11887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1F4E"/>
                </a:solidFill>
                <a:latin typeface="Calibri"/>
                <a:ea typeface="Calibri"/>
                <a:cs typeface="Calibri"/>
              </a:rPr>
              <a:t>Função Heurística</a:t>
            </a:r>
            <a:endParaRPr lang="en-US" sz="1300"/>
          </a:p>
        </p:txBody>
      </p:sp>
      <p:sp>
        <p:nvSpPr>
          <p:cNvPr id="1535545003" name="Text 22"/>
          <p:cNvSpPr/>
          <p:nvPr/>
        </p:nvSpPr>
        <p:spPr bwMode="auto">
          <a:xfrm>
            <a:off x="5413248" y="14904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7A86B0"/>
                </a:solidFill>
                <a:latin typeface="Calibri"/>
                <a:ea typeface="Calibri"/>
                <a:cs typeface="Calibri"/>
              </a:rPr>
              <a:t>Avaliação por janelas de 4 células em todas as direcções</a:t>
            </a:r>
            <a:endParaRPr lang="en-US" sz="1050"/>
          </a:p>
        </p:txBody>
      </p:sp>
      <p:graphicFrame>
        <p:nvGraphicFramePr>
          <p:cNvPr id="1106798440" name="Table 0"/>
          <p:cNvGraphicFramePr>
            <a:graphicFrameLocks xmlns:a="http://schemas.openxmlformats.org/drawingml/2006/main" noGrp="1"/>
          </p:cNvGraphicFramePr>
          <p:nvPr/>
        </p:nvGraphicFramePr>
        <p:xfrm>
          <a:off x="5413248" y="1810512"/>
          <a:ext cx="3154680" cy="3017519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377440"/>
                <a:gridCol w="777240"/>
              </a:tblGrid>
              <a:tr h="43107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Configuração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  <a:solidFill>
                      <a:srgbClr val="1A1F4E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Pts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  <a:solidFill>
                      <a:srgbClr val="1A1F4E"/>
                    </a:solidFill>
                  </a:tcPr>
                </a:tc>
              </a:tr>
              <a:tr h="43107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 peças próprias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 b="1">
                          <a:solidFill>
                            <a:srgbClr val="2A7A4B"/>
                          </a:solidFill>
                          <a:latin typeface="Calibri"/>
                          <a:ea typeface="Calibri"/>
                          <a:cs typeface="Calibri"/>
                        </a:rPr>
                        <a:t>+100 000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</a:tcPr>
                </a:tc>
              </a:tr>
              <a:tr h="43107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 próprias + 1 vazio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 b="1">
                          <a:solidFill>
                            <a:srgbClr val="2A7A4B"/>
                          </a:solidFill>
                          <a:latin typeface="Calibri"/>
                          <a:ea typeface="Calibri"/>
                          <a:cs typeface="Calibri"/>
                        </a:rPr>
                        <a:t>+50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</a:tcPr>
                </a:tc>
              </a:tr>
              <a:tr h="43107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 próprias + 2 vazios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 b="1">
                          <a:solidFill>
                            <a:srgbClr val="2A7A4B"/>
                          </a:solidFill>
                          <a:latin typeface="Calibri"/>
                          <a:ea typeface="Calibri"/>
                          <a:cs typeface="Calibri"/>
                        </a:rPr>
                        <a:t>+10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</a:tcPr>
                </a:tc>
              </a:tr>
              <a:tr h="43107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Peça coluna central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 b="1">
                          <a:solidFill>
                            <a:srgbClr val="2A7A4B"/>
                          </a:solidFill>
                          <a:latin typeface="Calibri"/>
                          <a:ea typeface="Calibri"/>
                          <a:cs typeface="Calibri"/>
                        </a:rPr>
                        <a:t>+4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</a:tcPr>
                </a:tc>
              </a:tr>
              <a:tr h="43107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 adversário + 1 vazio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 b="1">
                          <a:solidFill>
                            <a:srgbClr val="B00020"/>
                          </a:solidFill>
                          <a:latin typeface="Calibri"/>
                          <a:ea typeface="Calibri"/>
                          <a:cs typeface="Calibri"/>
                        </a:rPr>
                        <a:t>−80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</a:tcPr>
                </a:tc>
              </a:tr>
              <a:tr h="431074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 adversário + 2 vazios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50" b="1">
                          <a:solidFill>
                            <a:srgbClr val="B00020"/>
                          </a:solidFill>
                          <a:latin typeface="Calibri"/>
                          <a:ea typeface="Calibri"/>
                          <a:cs typeface="Calibri"/>
                        </a:rPr>
                        <a:t>−8</a:t>
                      </a:r>
                      <a:endParaRPr lang="en-US" sz="10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9615867" name="Text 0"/>
          <p:cNvSpPr/>
          <p:nvPr/>
        </p:nvSpPr>
        <p:spPr bwMode="auto"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1F4E"/>
                </a:solidFill>
                <a:latin typeface="Cambria"/>
                <a:ea typeface="Cambria"/>
                <a:cs typeface="Cambria"/>
              </a:rPr>
              <a:t>Algoritmo </a:t>
            </a:r>
            <a:r>
              <a:rPr lang="pt-PT" sz="2800" b="1">
                <a:solidFill>
                  <a:srgbClr val="1A1F4E"/>
                </a:solidFill>
                <a:latin typeface="Cambria"/>
                <a:ea typeface="Cambria"/>
                <a:cs typeface="Cambria"/>
              </a:rPr>
              <a:t>alternativo</a:t>
            </a:r>
            <a:r>
              <a:rPr lang="en-US" sz="2800" b="1">
                <a:solidFill>
                  <a:srgbClr val="1A1F4E"/>
                </a:solidFill>
                <a:latin typeface="Cambria"/>
                <a:ea typeface="Cambria"/>
                <a:cs typeface="Cambria"/>
              </a:rPr>
              <a:t> — MCTS com ε-greedy</a:t>
            </a:r>
            <a:endParaRPr lang="en-US" sz="2800"/>
          </a:p>
        </p:txBody>
      </p:sp>
      <p:sp>
        <p:nvSpPr>
          <p:cNvPr id="263330640" name="Shape 1"/>
          <p:cNvSpPr/>
          <p:nvPr/>
        </p:nvSpPr>
        <p:spPr bwMode="auto">
          <a:xfrm>
            <a:off x="457200" y="987552"/>
            <a:ext cx="8229600" cy="22860"/>
          </a:xfrm>
          <a:prstGeom prst="rect">
            <a:avLst/>
          </a:prstGeom>
          <a:solidFill>
            <a:srgbClr val="C8D8F8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1426699451" name="Shape 2"/>
          <p:cNvSpPr/>
          <p:nvPr/>
        </p:nvSpPr>
        <p:spPr bwMode="auto">
          <a:xfrm>
            <a:off x="457200" y="1097280"/>
            <a:ext cx="8229600" cy="804672"/>
          </a:xfrm>
          <a:prstGeom prst="rect">
            <a:avLst/>
          </a:prstGeom>
          <a:solidFill>
            <a:srgbClr val="FFF3EE"/>
          </a:solidFill>
          <a:ln w="9525">
            <a:solidFill>
              <a:srgbClr val="C8D8F8"/>
            </a:solidFill>
            <a:prstDash val="solid"/>
          </a:ln>
        </p:spPr>
      </p:sp>
      <p:sp>
        <p:nvSpPr>
          <p:cNvPr id="1430661765" name="Shape 3"/>
          <p:cNvSpPr/>
          <p:nvPr/>
        </p:nvSpPr>
        <p:spPr bwMode="auto">
          <a:xfrm>
            <a:off x="457200" y="1097280"/>
            <a:ext cx="164592" cy="804672"/>
          </a:xfrm>
          <a:prstGeom prst="rect">
            <a:avLst/>
          </a:prstGeom>
          <a:solidFill>
            <a:srgbClr val="E8623A"/>
          </a:solidFill>
          <a:ln w="12700">
            <a:solidFill>
              <a:srgbClr val="E8623A"/>
            </a:solidFill>
            <a:prstDash val="solid"/>
          </a:ln>
        </p:spPr>
      </p:sp>
      <p:sp>
        <p:nvSpPr>
          <p:cNvPr id="244764332" name="Text 4"/>
          <p:cNvSpPr/>
          <p:nvPr/>
        </p:nvSpPr>
        <p:spPr bwMode="auto">
          <a:xfrm>
            <a:off x="749808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E8623A"/>
                </a:solidFill>
                <a:latin typeface="Calibri"/>
                <a:ea typeface="Calibri"/>
                <a:cs typeface="Calibri"/>
              </a:rPr>
              <a:t>Política de Selecção</a:t>
            </a:r>
            <a:endParaRPr lang="en-US" sz="1200"/>
          </a:p>
        </p:txBody>
      </p:sp>
      <p:sp>
        <p:nvSpPr>
          <p:cNvPr id="436653441" name="Text 5"/>
          <p:cNvSpPr/>
          <p:nvPr/>
        </p:nvSpPr>
        <p:spPr bwMode="auto">
          <a:xfrm>
            <a:off x="749808" y="142646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Com prob. ε=0.2  →  filho ALEATÓRIO (exploração)          Com prob. 0.8  →  filho com MAIS VISITAS (explotação)</a:t>
            </a:r>
            <a:endParaRPr lang="en-US" sz="1200"/>
          </a:p>
        </p:txBody>
      </p:sp>
      <p:sp>
        <p:nvSpPr>
          <p:cNvPr id="2069455939" name="Text 6"/>
          <p:cNvSpPr/>
          <p:nvPr/>
        </p:nvSpPr>
        <p:spPr bwMode="auto">
          <a:xfrm>
            <a:off x="457200" y="2011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1F4E"/>
                </a:solidFill>
                <a:latin typeface="Calibri"/>
                <a:ea typeface="Calibri"/>
                <a:cs typeface="Calibri"/>
              </a:rPr>
              <a:t>Comparação UCT vs ε-greedy</a:t>
            </a:r>
            <a:endParaRPr lang="en-US" sz="1300"/>
          </a:p>
        </p:txBody>
      </p:sp>
      <p:graphicFrame>
        <p:nvGraphicFramePr>
          <p:cNvPr id="1910878833" name="Table 0"/>
          <p:cNvGraphicFramePr>
            <a:graphicFrameLocks xmlns:a="http://schemas.openxmlformats.org/drawingml/2006/main" noGrp="1"/>
          </p:cNvGraphicFramePr>
          <p:nvPr/>
        </p:nvGraphicFramePr>
        <p:xfrm>
          <a:off x="457200" y="2331720"/>
          <a:ext cx="8229600" cy="233172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828800"/>
                <a:gridCol w="3200400"/>
                <a:gridCol w="3200400"/>
              </a:tblGrid>
              <a:tr h="3886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Aspecto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  <a:solidFill>
                      <a:srgbClr val="1A1F4E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UCT (Alg. 1)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  <a:solidFill>
                      <a:srgbClr val="1A1F4E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ε-greedy (Alg. 2)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  <a:solidFill>
                      <a:srgbClr val="E8623A"/>
                    </a:solidFill>
                  </a:tcPr>
                </a:tc>
              </a:tr>
              <a:tr h="3886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Selecção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Fórmula matemática contínua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Decisão binária (aleatório ou melhor)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</a:tcPr>
                </a:tc>
              </a:tr>
              <a:tr h="3886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Parâmetro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 — exploração gradual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ε — probabilidade directa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</a:tcPr>
                </a:tc>
              </a:tr>
              <a:tr h="3886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Adaptatividade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Adapta-se à profundidade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ε fixo em toda a árvore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</a:tcPr>
                </a:tc>
              </a:tr>
              <a:tr h="3886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Garantia teórica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Óptimo para bandits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Sem garantia formal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</a:tcPr>
                </a:tc>
              </a:tr>
              <a:tr h="3886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5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Eficiência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Mais eficiente em espaços grandes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5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Perde 20% de iterações a explorar</a:t>
                      </a:r>
                      <a:endParaRPr lang="en-US"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algn="ctr">
                      <a:solidFill>
                        <a:srgbClr val="C8D8F8"/>
                      </a:solidFill>
                    </a:lnL>
                    <a:lnR w="6350" algn="ctr">
                      <a:solidFill>
                        <a:srgbClr val="C8D8F8"/>
                      </a:solidFill>
                    </a:lnR>
                    <a:lnT w="6350" algn="ctr">
                      <a:solidFill>
                        <a:srgbClr val="C8D8F8"/>
                      </a:solidFill>
                    </a:lnT>
                    <a:lnB w="6350" algn="ctr">
                      <a:solidFill>
                        <a:srgbClr val="C8D8F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1964896" name="Shape 7"/>
          <p:cNvSpPr/>
          <p:nvPr/>
        </p:nvSpPr>
        <p:spPr bwMode="auto">
          <a:xfrm>
            <a:off x="457200" y="4736592"/>
            <a:ext cx="8229600" cy="292608"/>
          </a:xfrm>
          <a:prstGeom prst="rect">
            <a:avLst/>
          </a:prstGeom>
          <a:solidFill>
            <a:srgbClr val="F4F6FB"/>
          </a:solidFill>
          <a:ln w="9525">
            <a:solidFill>
              <a:srgbClr val="C8D8F8"/>
            </a:solidFill>
            <a:prstDash val="solid"/>
          </a:ln>
        </p:spPr>
      </p:sp>
      <p:sp>
        <p:nvSpPr>
          <p:cNvPr id="569261044" name="Text 8"/>
          <p:cNvSpPr/>
          <p:nvPr/>
        </p:nvSpPr>
        <p:spPr bwMode="auto">
          <a:xfrm>
            <a:off x="594360" y="476402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7A86B0"/>
                </a:solidFill>
                <a:latin typeface="Calibri"/>
                <a:ea typeface="Calibri"/>
                <a:cs typeface="Calibri"/>
              </a:rPr>
              <a:t>Expansão · Simulação · Backpropagation são idênticos ao UCT — só a fase de Selecção muda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9233825" name="Text 0"/>
          <p:cNvSpPr/>
          <p:nvPr/>
        </p:nvSpPr>
        <p:spPr bwMode="auto"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1F4E"/>
                </a:solidFill>
                <a:latin typeface="Cambria"/>
                <a:ea typeface="Cambria"/>
                <a:cs typeface="Cambria"/>
              </a:rPr>
              <a:t>Resultados — UCT vs ε-greedy</a:t>
            </a:r>
            <a:endParaRPr lang="en-US" sz="2800"/>
          </a:p>
        </p:txBody>
      </p:sp>
      <p:sp>
        <p:nvSpPr>
          <p:cNvPr id="1961959552" name="Shape 1"/>
          <p:cNvSpPr/>
          <p:nvPr/>
        </p:nvSpPr>
        <p:spPr bwMode="auto">
          <a:xfrm>
            <a:off x="457200" y="987552"/>
            <a:ext cx="8229600" cy="22860"/>
          </a:xfrm>
          <a:prstGeom prst="rect">
            <a:avLst/>
          </a:prstGeom>
          <a:solidFill>
            <a:srgbClr val="C8D8F8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831760268" name="Shape 2"/>
          <p:cNvSpPr/>
          <p:nvPr/>
        </p:nvSpPr>
        <p:spPr bwMode="auto">
          <a:xfrm>
            <a:off x="457200" y="1097280"/>
            <a:ext cx="2606040" cy="1417320"/>
          </a:xfrm>
          <a:prstGeom prst="rect">
            <a:avLst/>
          </a:prstGeom>
          <a:solidFill>
            <a:srgbClr val="F4F6FB"/>
          </a:solidFill>
          <a:ln w="9525">
            <a:solidFill>
              <a:srgbClr val="C8D8F8"/>
            </a:solidFill>
            <a:prstDash val="solid"/>
          </a:ln>
        </p:spPr>
      </p:sp>
      <p:sp>
        <p:nvSpPr>
          <p:cNvPr id="1408400188" name="Shape 3"/>
          <p:cNvSpPr/>
          <p:nvPr/>
        </p:nvSpPr>
        <p:spPr bwMode="auto">
          <a:xfrm>
            <a:off x="457200" y="1097280"/>
            <a:ext cx="2606040" cy="73152"/>
          </a:xfrm>
          <a:prstGeom prst="rect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76457362" name="Text 4"/>
          <p:cNvSpPr/>
          <p:nvPr/>
        </p:nvSpPr>
        <p:spPr bwMode="auto">
          <a:xfrm>
            <a:off x="457200" y="1207008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5200" b="1">
                <a:solidFill>
                  <a:srgbClr val="1A1F4E"/>
                </a:solidFill>
                <a:latin typeface="Cambria"/>
                <a:ea typeface="Cambria"/>
                <a:cs typeface="Cambria"/>
              </a:rPr>
              <a:t>18</a:t>
            </a:r>
            <a:endParaRPr lang="en-US" sz="5200"/>
          </a:p>
        </p:txBody>
      </p:sp>
      <p:sp>
        <p:nvSpPr>
          <p:cNvPr id="1246758912" name="Text 5"/>
          <p:cNvSpPr/>
          <p:nvPr/>
        </p:nvSpPr>
        <p:spPr bwMode="auto">
          <a:xfrm>
            <a:off x="457200" y="19385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7A86B0"/>
                </a:solidFill>
                <a:latin typeface="Calibri"/>
                <a:ea typeface="Calibri"/>
                <a:cs typeface="Calibri"/>
              </a:rPr>
              <a:t>90%</a:t>
            </a:r>
            <a:endParaRPr lang="en-US" sz="1400"/>
          </a:p>
        </p:txBody>
      </p:sp>
      <p:sp>
        <p:nvSpPr>
          <p:cNvPr id="2044674139" name="Text 6"/>
          <p:cNvSpPr/>
          <p:nvPr/>
        </p:nvSpPr>
        <p:spPr bwMode="auto">
          <a:xfrm>
            <a:off x="457200" y="22128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Vitórias UCT (X)</a:t>
            </a:r>
            <a:endParaRPr lang="en-US" sz="1100"/>
          </a:p>
        </p:txBody>
      </p:sp>
      <p:sp>
        <p:nvSpPr>
          <p:cNvPr id="341009945" name="Shape 7"/>
          <p:cNvSpPr/>
          <p:nvPr/>
        </p:nvSpPr>
        <p:spPr bwMode="auto">
          <a:xfrm>
            <a:off x="3273552" y="1097280"/>
            <a:ext cx="2606040" cy="1417320"/>
          </a:xfrm>
          <a:prstGeom prst="rect">
            <a:avLst/>
          </a:prstGeom>
          <a:solidFill>
            <a:srgbClr val="F4F6FB"/>
          </a:solidFill>
          <a:ln w="9525">
            <a:solidFill>
              <a:srgbClr val="C8D8F8"/>
            </a:solidFill>
            <a:prstDash val="solid"/>
          </a:ln>
        </p:spPr>
      </p:sp>
      <p:sp>
        <p:nvSpPr>
          <p:cNvPr id="1885651535" name="Shape 8"/>
          <p:cNvSpPr/>
          <p:nvPr/>
        </p:nvSpPr>
        <p:spPr bwMode="auto">
          <a:xfrm>
            <a:off x="3273552" y="1097280"/>
            <a:ext cx="2606040" cy="73152"/>
          </a:xfrm>
          <a:prstGeom prst="rect">
            <a:avLst/>
          </a:prstGeom>
          <a:solidFill>
            <a:srgbClr val="E8623A"/>
          </a:solidFill>
          <a:ln w="12700">
            <a:solidFill>
              <a:srgbClr val="E8623A"/>
            </a:solidFill>
            <a:prstDash val="solid"/>
          </a:ln>
        </p:spPr>
      </p:sp>
      <p:sp>
        <p:nvSpPr>
          <p:cNvPr id="1692690858" name="Text 9"/>
          <p:cNvSpPr/>
          <p:nvPr/>
        </p:nvSpPr>
        <p:spPr bwMode="auto">
          <a:xfrm>
            <a:off x="3273552" y="1207008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5200" b="1">
                <a:solidFill>
                  <a:srgbClr val="E8623A"/>
                </a:solidFill>
                <a:latin typeface="Cambria"/>
                <a:ea typeface="Cambria"/>
                <a:cs typeface="Cambria"/>
              </a:rPr>
              <a:t>2</a:t>
            </a:r>
            <a:endParaRPr lang="en-US" sz="5200"/>
          </a:p>
        </p:txBody>
      </p:sp>
      <p:sp>
        <p:nvSpPr>
          <p:cNvPr id="185736363" name="Text 10"/>
          <p:cNvSpPr/>
          <p:nvPr/>
        </p:nvSpPr>
        <p:spPr bwMode="auto">
          <a:xfrm>
            <a:off x="3273552" y="19385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7A86B0"/>
                </a:solidFill>
                <a:latin typeface="Calibri"/>
                <a:ea typeface="Calibri"/>
                <a:cs typeface="Calibri"/>
              </a:rPr>
              <a:t>10%</a:t>
            </a:r>
            <a:endParaRPr lang="en-US" sz="1400"/>
          </a:p>
        </p:txBody>
      </p:sp>
      <p:sp>
        <p:nvSpPr>
          <p:cNvPr id="692847982" name="Text 11"/>
          <p:cNvSpPr/>
          <p:nvPr/>
        </p:nvSpPr>
        <p:spPr bwMode="auto">
          <a:xfrm>
            <a:off x="3273552" y="22128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Vitórias ε-greedy (O)</a:t>
            </a:r>
            <a:endParaRPr lang="en-US" sz="1100"/>
          </a:p>
        </p:txBody>
      </p:sp>
      <p:sp>
        <p:nvSpPr>
          <p:cNvPr id="2080041092" name="Shape 12"/>
          <p:cNvSpPr/>
          <p:nvPr/>
        </p:nvSpPr>
        <p:spPr bwMode="auto">
          <a:xfrm>
            <a:off x="6089904" y="1097280"/>
            <a:ext cx="2606040" cy="1417320"/>
          </a:xfrm>
          <a:prstGeom prst="rect">
            <a:avLst/>
          </a:prstGeom>
          <a:solidFill>
            <a:srgbClr val="F4F6FB"/>
          </a:solidFill>
          <a:ln w="9525">
            <a:solidFill>
              <a:srgbClr val="C8D8F8"/>
            </a:solidFill>
            <a:prstDash val="solid"/>
          </a:ln>
        </p:spPr>
      </p:sp>
      <p:sp>
        <p:nvSpPr>
          <p:cNvPr id="503220836" name="Shape 13"/>
          <p:cNvSpPr/>
          <p:nvPr/>
        </p:nvSpPr>
        <p:spPr bwMode="auto">
          <a:xfrm>
            <a:off x="6089904" y="1097280"/>
            <a:ext cx="2606040" cy="73152"/>
          </a:xfrm>
          <a:prstGeom prst="rect">
            <a:avLst/>
          </a:prstGeom>
          <a:solidFill>
            <a:srgbClr val="7A86B0"/>
          </a:solidFill>
          <a:ln w="12700">
            <a:solidFill>
              <a:srgbClr val="7A86B0"/>
            </a:solidFill>
            <a:prstDash val="solid"/>
          </a:ln>
        </p:spPr>
      </p:sp>
      <p:sp>
        <p:nvSpPr>
          <p:cNvPr id="346175793" name="Text 14"/>
          <p:cNvSpPr/>
          <p:nvPr/>
        </p:nvSpPr>
        <p:spPr bwMode="auto">
          <a:xfrm>
            <a:off x="6089904" y="1207008"/>
            <a:ext cx="2606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5200" b="1">
                <a:solidFill>
                  <a:srgbClr val="7A86B0"/>
                </a:solidFill>
                <a:latin typeface="Cambria"/>
                <a:ea typeface="Cambria"/>
                <a:cs typeface="Cambria"/>
              </a:rPr>
              <a:t>0</a:t>
            </a:r>
            <a:endParaRPr lang="en-US" sz="5200"/>
          </a:p>
        </p:txBody>
      </p:sp>
      <p:sp>
        <p:nvSpPr>
          <p:cNvPr id="1116256446" name="Text 15"/>
          <p:cNvSpPr/>
          <p:nvPr/>
        </p:nvSpPr>
        <p:spPr bwMode="auto">
          <a:xfrm>
            <a:off x="6089904" y="19385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7A86B0"/>
                </a:solidFill>
                <a:latin typeface="Calibri"/>
                <a:ea typeface="Calibri"/>
                <a:cs typeface="Calibri"/>
              </a:rPr>
              <a:t>0%</a:t>
            </a:r>
            <a:endParaRPr lang="en-US" sz="1400"/>
          </a:p>
        </p:txBody>
      </p:sp>
      <p:sp>
        <p:nvSpPr>
          <p:cNvPr id="1762846312" name="Text 16"/>
          <p:cNvSpPr/>
          <p:nvPr/>
        </p:nvSpPr>
        <p:spPr bwMode="auto">
          <a:xfrm>
            <a:off x="6089904" y="22128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Empates</a:t>
            </a:r>
            <a:endParaRPr lang="en-US" sz="1100"/>
          </a:p>
        </p:txBody>
      </p:sp>
      <p:sp>
        <p:nvSpPr>
          <p:cNvPr id="101963909" name="Shape 17"/>
          <p:cNvSpPr/>
          <p:nvPr/>
        </p:nvSpPr>
        <p:spPr bwMode="auto">
          <a:xfrm>
            <a:off x="457200" y="2606040"/>
            <a:ext cx="8229600" cy="347472"/>
          </a:xfrm>
          <a:prstGeom prst="rect">
            <a:avLst/>
          </a:prstGeom>
          <a:solidFill>
            <a:srgbClr val="EEF2FB"/>
          </a:solidFill>
          <a:ln w="9525">
            <a:solidFill>
              <a:srgbClr val="C8D8F8"/>
            </a:solidFill>
            <a:prstDash val="solid"/>
          </a:ln>
        </p:spPr>
      </p:sp>
      <p:sp>
        <p:nvSpPr>
          <p:cNvPr id="1342610018" name="Text 18"/>
          <p:cNvSpPr/>
          <p:nvPr/>
        </p:nvSpPr>
        <p:spPr bwMode="auto">
          <a:xfrm>
            <a:off x="594360" y="26334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7A86B0"/>
                </a:solidFill>
                <a:latin typeface="Calibri"/>
                <a:ea typeface="Calibri"/>
                <a:cs typeface="Calibri"/>
              </a:rPr>
              <a:t>Condições: 20 jogos · iterações iguais (1000) · c = 1.4 · ε = 0.2  |  X sempre UCT, O sempre ε-greedy</a:t>
            </a:r>
            <a:endParaRPr lang="en-US" sz="1100"/>
          </a:p>
        </p:txBody>
      </p:sp>
      <p:sp>
        <p:nvSpPr>
          <p:cNvPr id="1890963795" name="Text 19"/>
          <p:cNvSpPr/>
          <p:nvPr/>
        </p:nvSpPr>
        <p:spPr bwMode="auto">
          <a:xfrm>
            <a:off x="457200" y="3090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A1F4E"/>
                </a:solidFill>
                <a:latin typeface="Calibri"/>
                <a:ea typeface="Calibri"/>
                <a:cs typeface="Calibri"/>
              </a:rPr>
              <a:t>Por que o UCT ganha?</a:t>
            </a:r>
            <a:endParaRPr lang="en-US" sz="1300"/>
          </a:p>
        </p:txBody>
      </p:sp>
      <p:sp>
        <p:nvSpPr>
          <p:cNvPr id="1651972863" name="Shape 20"/>
          <p:cNvSpPr/>
          <p:nvPr/>
        </p:nvSpPr>
        <p:spPr bwMode="auto">
          <a:xfrm>
            <a:off x="457200" y="3493008"/>
            <a:ext cx="237744" cy="237744"/>
          </a:xfrm>
          <a:prstGeom prst="ellipse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1756440315" name="Text 21"/>
          <p:cNvSpPr/>
          <p:nvPr/>
        </p:nvSpPr>
        <p:spPr bwMode="auto">
          <a:xfrm>
            <a:off x="457200" y="3493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000"/>
          </a:p>
        </p:txBody>
      </p:sp>
      <p:sp>
        <p:nvSpPr>
          <p:cNvPr id="1817000203" name="Text 22"/>
          <p:cNvSpPr/>
          <p:nvPr/>
        </p:nvSpPr>
        <p:spPr bwMode="auto">
          <a:xfrm>
            <a:off x="786384" y="34930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Adaptatividade: </a:t>
            </a:r>
            <a:endParaRPr lang="en-US" sz="1200"/>
          </a:p>
        </p:txBody>
      </p:sp>
      <p:sp>
        <p:nvSpPr>
          <p:cNvPr id="264370437" name="Text 23"/>
          <p:cNvSpPr/>
          <p:nvPr/>
        </p:nvSpPr>
        <p:spPr bwMode="auto">
          <a:xfrm>
            <a:off x="2157984" y="3493008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UCT ajusta exploração/explotação dinamicamente — ε fixo não se adapta à posição na árvore</a:t>
            </a:r>
            <a:endParaRPr lang="en-US" sz="1200"/>
          </a:p>
        </p:txBody>
      </p:sp>
      <p:sp>
        <p:nvSpPr>
          <p:cNvPr id="1068057758" name="Shape 24"/>
          <p:cNvSpPr/>
          <p:nvPr/>
        </p:nvSpPr>
        <p:spPr bwMode="auto">
          <a:xfrm>
            <a:off x="457200" y="3968496"/>
            <a:ext cx="237744" cy="237744"/>
          </a:xfrm>
          <a:prstGeom prst="ellipse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1181239233" name="Text 25"/>
          <p:cNvSpPr/>
          <p:nvPr/>
        </p:nvSpPr>
        <p:spPr bwMode="auto">
          <a:xfrm>
            <a:off x="457200" y="39684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000"/>
          </a:p>
        </p:txBody>
      </p:sp>
      <p:sp>
        <p:nvSpPr>
          <p:cNvPr id="1470239500" name="Text 26"/>
          <p:cNvSpPr/>
          <p:nvPr/>
        </p:nvSpPr>
        <p:spPr bwMode="auto">
          <a:xfrm>
            <a:off x="786384" y="39684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Eficiência: </a:t>
            </a:r>
            <a:endParaRPr lang="en-US" sz="1200"/>
          </a:p>
        </p:txBody>
      </p:sp>
      <p:sp>
        <p:nvSpPr>
          <p:cNvPr id="715848780" name="Text 27"/>
          <p:cNvSpPr/>
          <p:nvPr/>
        </p:nvSpPr>
        <p:spPr bwMode="auto">
          <a:xfrm>
            <a:off x="2157984" y="396849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ε=0.2 desperdiça 20% das iterações em escolhas aleatórias mesmo quando o melhor ramo já está identificado</a:t>
            </a:r>
            <a:endParaRPr lang="en-US" sz="1200"/>
          </a:p>
        </p:txBody>
      </p:sp>
      <p:sp>
        <p:nvSpPr>
          <p:cNvPr id="1524591980" name="Shape 28"/>
          <p:cNvSpPr/>
          <p:nvPr/>
        </p:nvSpPr>
        <p:spPr bwMode="auto">
          <a:xfrm>
            <a:off x="457200" y="4443984"/>
            <a:ext cx="237744" cy="237744"/>
          </a:xfrm>
          <a:prstGeom prst="ellipse">
            <a:avLst/>
          </a:prstGeom>
          <a:solidFill>
            <a:srgbClr val="1A1F4E"/>
          </a:solidFill>
          <a:ln w="12700">
            <a:solidFill>
              <a:srgbClr val="1A1F4E"/>
            </a:solidFill>
            <a:prstDash val="solid"/>
          </a:ln>
        </p:spPr>
      </p:sp>
      <p:sp>
        <p:nvSpPr>
          <p:cNvPr id="299364584" name="Text 29"/>
          <p:cNvSpPr/>
          <p:nvPr/>
        </p:nvSpPr>
        <p:spPr bwMode="auto">
          <a:xfrm>
            <a:off x="457200" y="44439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000"/>
          </a:p>
        </p:txBody>
      </p:sp>
      <p:sp>
        <p:nvSpPr>
          <p:cNvPr id="34625868" name="Text 30"/>
          <p:cNvSpPr/>
          <p:nvPr/>
        </p:nvSpPr>
        <p:spPr bwMode="auto">
          <a:xfrm>
            <a:off x="786384" y="4443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Garantia teórica: </a:t>
            </a:r>
            <a:endParaRPr lang="en-US" sz="1200"/>
          </a:p>
        </p:txBody>
      </p:sp>
      <p:sp>
        <p:nvSpPr>
          <p:cNvPr id="961504325" name="Text 31"/>
          <p:cNvSpPr/>
          <p:nvPr/>
        </p:nvSpPr>
        <p:spPr bwMode="auto">
          <a:xfrm>
            <a:off x="2157984" y="4443984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1F2E"/>
                </a:solidFill>
                <a:latin typeface="Calibri"/>
                <a:ea typeface="Calibri"/>
                <a:cs typeface="Calibri"/>
              </a:rPr>
              <a:t>UCT tem provas formais de convergência óptima  — ε-greedy não</a:t>
            </a:r>
            <a:endParaRPr lang="en-US" sz="1200"/>
          </a:p>
        </p:txBody>
      </p:sp>
      <p:sp>
        <p:nvSpPr>
          <p:cNvPr id="1314877234" name="Shape 32"/>
          <p:cNvSpPr/>
          <p:nvPr/>
        </p:nvSpPr>
        <p:spPr bwMode="auto">
          <a:xfrm>
            <a:off x="457200" y="4736592"/>
            <a:ext cx="8229600" cy="292608"/>
          </a:xfrm>
          <a:prstGeom prst="rect">
            <a:avLst/>
          </a:prstGeom>
          <a:solidFill>
            <a:srgbClr val="FFF8F0"/>
          </a:solidFill>
          <a:ln w="9525">
            <a:solidFill>
              <a:srgbClr val="C8D8F8"/>
            </a:solidFill>
            <a:prstDash val="solid"/>
          </a:ln>
        </p:spPr>
      </p:sp>
      <p:sp>
        <p:nvSpPr>
          <p:cNvPr id="321813847" name="Text 33"/>
          <p:cNvSpPr/>
          <p:nvPr/>
        </p:nvSpPr>
        <p:spPr bwMode="auto">
          <a:xfrm>
            <a:off x="594360" y="476402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E8623A"/>
                </a:solidFill>
                <a:latin typeface="Calibri"/>
                <a:ea typeface="Calibri"/>
                <a:cs typeface="Calibri"/>
              </a:rPr>
              <a:t>⚠  Nos testes iniciais o ε-greedy ganhava — por assimetria de iterações e bug no backpropagation. Após correcção, UCT recuperou.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1A1F4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482239" name="Shape 0"/>
          <p:cNvSpPr/>
          <p:nvPr/>
        </p:nvSpPr>
        <p:spPr bwMode="auto">
          <a:xfrm>
            <a:off x="6583680" y="0"/>
            <a:ext cx="2560320" cy="5143500"/>
          </a:xfrm>
          <a:prstGeom prst="rect">
            <a:avLst/>
          </a:prstGeom>
          <a:solidFill>
            <a:srgbClr val="2D4A8A">
              <a:alpha val="35000"/>
            </a:srgbClr>
          </a:solidFill>
          <a:ln w="12700">
            <a:solidFill>
              <a:srgbClr val="2D4A8A">
                <a:alpha val="35000"/>
              </a:srgbClr>
            </a:solidFill>
            <a:prstDash val="solid"/>
          </a:ln>
        </p:spPr>
      </p:sp>
      <p:sp>
        <p:nvSpPr>
          <p:cNvPr id="899775358" name="Text 1"/>
          <p:cNvSpPr/>
          <p:nvPr/>
        </p:nvSpPr>
        <p:spPr bwMode="auto"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Conclusões</a:t>
            </a:r>
            <a:endParaRPr lang="en-US" sz="3600"/>
          </a:p>
        </p:txBody>
      </p:sp>
      <p:sp>
        <p:nvSpPr>
          <p:cNvPr id="2053889782" name="Shape 2"/>
          <p:cNvSpPr/>
          <p:nvPr/>
        </p:nvSpPr>
        <p:spPr bwMode="auto">
          <a:xfrm>
            <a:off x="457200" y="1024128"/>
            <a:ext cx="109728" cy="1115568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482964936" name="Text 3"/>
          <p:cNvSpPr/>
          <p:nvPr/>
        </p:nvSpPr>
        <p:spPr bwMode="auto">
          <a:xfrm>
            <a:off x="68580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Resultados</a:t>
            </a:r>
            <a:endParaRPr lang="en-US" sz="1200"/>
          </a:p>
        </p:txBody>
      </p:sp>
      <p:sp>
        <p:nvSpPr>
          <p:cNvPr id="1363680130" name="Text 4"/>
          <p:cNvSpPr/>
          <p:nvPr/>
        </p:nvSpPr>
        <p:spPr bwMode="auto">
          <a:xfrm>
            <a:off x="685800" y="126187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8D8F8"/>
                </a:solidFill>
                <a:latin typeface="Calibri"/>
                <a:ea typeface="Calibri"/>
                <a:cs typeface="Calibri"/>
              </a:rPr>
              <a:t>— UCT vence 18/20 (90%) com iterações iguais - confirma superioridade teórica</a:t>
            </a:r>
            <a:endParaRPr lang="en-US" sz="1100"/>
          </a:p>
        </p:txBody>
      </p:sp>
      <p:sp>
        <p:nvSpPr>
          <p:cNvPr id="436820725" name="Text 5"/>
          <p:cNvSpPr/>
          <p:nvPr/>
        </p:nvSpPr>
        <p:spPr bwMode="auto">
          <a:xfrm>
            <a:off x="685800" y="1591056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C8D8F8"/>
                </a:solidFill>
                <a:latin typeface="Calibri"/>
                <a:ea typeface="Calibri"/>
                <a:cs typeface="Calibri"/>
              </a:rPr>
              <a:t>— UCT ajusta exploração dinamicamente; e-greedy perde 20% das iterações em escolhas aleatórias mesmo quando o melhor ramo já está identificado</a:t>
            </a:r>
            <a:endParaRPr lang="en-US" sz="1100"/>
          </a:p>
        </p:txBody>
      </p:sp>
      <p:sp>
        <p:nvSpPr>
          <p:cNvPr id="379816532" name="Shape 10"/>
          <p:cNvSpPr/>
          <p:nvPr/>
        </p:nvSpPr>
        <p:spPr bwMode="auto">
          <a:xfrm>
            <a:off x="457200" y="2496312"/>
            <a:ext cx="109728" cy="1115568"/>
          </a:xfrm>
          <a:prstGeom prst="rect">
            <a:avLst/>
          </a:prstGeom>
          <a:solidFill>
            <a:srgbClr val="7A86B0"/>
          </a:solidFill>
          <a:ln w="12700">
            <a:solidFill>
              <a:srgbClr val="7A86B0"/>
            </a:solidFill>
            <a:prstDash val="solid"/>
          </a:ln>
        </p:spPr>
      </p:sp>
      <p:sp>
        <p:nvSpPr>
          <p:cNvPr id="1071093767" name="Text 11"/>
          <p:cNvSpPr/>
          <p:nvPr/>
        </p:nvSpPr>
        <p:spPr bwMode="auto">
          <a:xfrm>
            <a:off x="685800" y="24963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7A86B0"/>
                </a:solidFill>
                <a:latin typeface="Calibri"/>
                <a:ea typeface="Calibri"/>
                <a:cs typeface="Calibri"/>
              </a:rPr>
              <a:t>Limitações</a:t>
            </a:r>
            <a:endParaRPr lang="en-US" sz="1200"/>
          </a:p>
        </p:txBody>
      </p:sp>
      <p:sp>
        <p:nvSpPr>
          <p:cNvPr id="616806398" name="Text 12"/>
          <p:cNvSpPr/>
          <p:nvPr/>
        </p:nvSpPr>
        <p:spPr bwMode="auto">
          <a:xfrm>
            <a:off x="685800" y="277063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7A86B0"/>
                </a:solidFill>
                <a:latin typeface="Calibri"/>
                <a:ea typeface="Calibri"/>
                <a:cs typeface="Calibri"/>
              </a:rPr>
              <a:t>— ε fixo não se adapta às fases do jogo — na fase final, desperdiçar 20% das iterações é especialmente custoso</a:t>
            </a:r>
            <a:endParaRPr lang="en-US" sz="1100"/>
          </a:p>
        </p:txBody>
      </p:sp>
      <p:sp>
        <p:nvSpPr>
          <p:cNvPr id="1916884066" name="Text 13"/>
          <p:cNvSpPr/>
          <p:nvPr/>
        </p:nvSpPr>
        <p:spPr bwMode="auto">
          <a:xfrm>
            <a:off x="685800" y="3246119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7A86B0"/>
                </a:solidFill>
                <a:latin typeface="Calibri"/>
                <a:ea typeface="Calibri"/>
                <a:cs typeface="Calibri"/>
              </a:rPr>
              <a:t>— Sem tabela de transposição: estados idênticos atingidos por caminhos diferentes são reavaliados do zero</a:t>
            </a:r>
            <a:endParaRPr lang="en-US" sz="1100"/>
          </a:p>
        </p:txBody>
      </p:sp>
      <p:sp>
        <p:nvSpPr>
          <p:cNvPr id="651123067" name="Text 14"/>
          <p:cNvSpPr/>
          <p:nvPr/>
        </p:nvSpPr>
        <p:spPr bwMode="auto">
          <a:xfrm>
            <a:off x="457200" y="4828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i="1">
                <a:solidFill>
                  <a:srgbClr val="7A86B0"/>
                </a:solidFill>
                <a:latin typeface="Calibri"/>
                <a:ea typeface="Calibri"/>
                <a:cs typeface="Calibri"/>
              </a:rPr>
              <a:t>Obrigado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ONLYOFFICE/9.0.0.172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2</cp:revision>
  <dcterms:created xsi:type="dcterms:W3CDTF">2026-05-16T19:44:38Z</dcterms:created>
  <dcterms:modified xsi:type="dcterms:W3CDTF">2026-05-17T01:51:48Z</dcterms:modified>
</cp:coreProperties>
</file>